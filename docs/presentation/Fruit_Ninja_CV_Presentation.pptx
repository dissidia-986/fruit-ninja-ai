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4" name="Rounded Rectangle 3"/>
          <p:cNvSpPr/>
          <p:nvPr/>
        </p:nvSpPr>
        <p:spPr>
          <a:xfrm>
            <a:off x="1371600" y="1097280"/>
            <a:ext cx="9418320" cy="4754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3C6E"/>
                </a:solidFill>
                <a:latin typeface="Calibri"/>
              </a:rPr>
              <a:t>Fruit Ninja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44"/>
                </a:solidFill>
                <a:latin typeface="Calibri"/>
              </a:rPr>
              <a:t>Real-time Hand Tracking with MediaPipe &amp; Three.js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108960"/>
            <a:ext cx="3017520" cy="2286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C757D"/>
                </a:solidFill>
                <a:latin typeface="Calibri"/>
              </a:rPr>
              <a:t>Introduction to Computer Vision | SAIT Integrated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C6E"/>
                </a:solidFill>
                <a:latin typeface="Calibri"/>
              </a:rPr>
              <a:t>Group 9</a:t>
            </a:r>
          </a:p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Bustamante Perez, Angel Daniel</a:t>
            </a:r>
          </a:p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Lemes Cordeiro, Romilson</a:t>
            </a:r>
          </a:p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Niu, Jason</a:t>
            </a:r>
          </a:p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Si, Jack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206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7D"/>
                </a:solidFill>
                <a:latin typeface="Calibri"/>
              </a:rPr>
              <a:t>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1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6" name="Rounded Rectangle 5"/>
          <p:cNvSpPr/>
          <p:nvPr/>
        </p:nvSpPr>
        <p:spPr>
          <a:xfrm>
            <a:off x="548640" y="1051560"/>
            <a:ext cx="5120640" cy="49377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57C00"/>
                </a:solidFill>
                <a:latin typeface="Calibri"/>
              </a:rPr>
              <a:t>Challenges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72768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Traditional gaming relies on controllers, keyboards, or touchscreens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31136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These input devices create a barrier between the player and the game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889504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7121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Gesture-based interaction is more natural but technically challenging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47872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2958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Existing gesture games require expensive hardware (Kinect, Leap Motion)</a:t>
            </a:r>
          </a:p>
        </p:txBody>
      </p:sp>
      <p:sp r:roundedCorner="5">
        <p:nvSpPr>
          <p:cNvPr id="16" name="Rounded Rectangle 15"/>
          <p:cNvSpPr/>
          <p:nvPr/>
        </p:nvSpPr>
        <p:spPr>
          <a:xfrm>
            <a:off x="5943600" y="1051560"/>
            <a:ext cx="5120640" cy="4937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143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  <a:latin typeface="Calibri"/>
              </a:rPr>
              <a:t>Solutions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157276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Build a gesture-controlled fruit-cutting game using only a webcam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23113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2128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No special hardware required, runs in any modern browser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288950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7121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Real-time hand tracking at 60 FPS with sub-16ms latency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354787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2958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Deployed and accessible via web (Aliyun ESA)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2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6" name="Rounded Rectangle 5"/>
          <p:cNvSpPr/>
          <p:nvPr/>
        </p:nvSpPr>
        <p:spPr>
          <a:xfrm>
            <a:off x="548640" y="1051560"/>
            <a:ext cx="5120640" cy="49377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57C00"/>
                </a:solidFill>
                <a:latin typeface="Calibri"/>
              </a:rPr>
              <a:t>Challenges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72768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Accurate hand detection in varied lighting conditions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31136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Distinguishing gestures: slash vs. idle vs. grab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889504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7121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Achieving real-time performance across different devices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47872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2958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Overlaying 3D game graphics on live camera feed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06240"/>
            <a:ext cx="201168" cy="2011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Deploying to production with HTTPS camera access</a:t>
            </a:r>
          </a:p>
        </p:txBody>
      </p:sp>
      <p:sp r:roundedCorner="5">
        <p:nvSpPr>
          <p:cNvPr id="18" name="Rounded Rectangle 17"/>
          <p:cNvSpPr/>
          <p:nvPr/>
        </p:nvSpPr>
        <p:spPr>
          <a:xfrm>
            <a:off x="5943600" y="1051560"/>
            <a:ext cx="5120640" cy="4937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143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  <a:latin typeface="Calibri"/>
              </a:rPr>
              <a:t>Solutions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157276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MediaPipe Hand Landmarker with adaptive brightness optimization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223113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128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Custom MLP classifier trained on 21 hand landmarks (126 features)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288950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87121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Device-adaptive performance system with 3 quality presets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354787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958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Three.js transparent rendering layered over webcam video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0" y="42062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18795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44444"/>
                </a:solidFill>
                <a:latin typeface="Calibri"/>
              </a:rPr>
              <a:t>Aliyun ESA deployment with CDN fallback for model loading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3 /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6" name="Rounded Rectangle 5"/>
          <p:cNvSpPr/>
          <p:nvPr/>
        </p:nvSpPr>
        <p:spPr>
          <a:xfrm>
            <a:off x="54864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56616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DC6"/>
                </a:solidFill>
                <a:latin typeface="Calibri"/>
              </a:rPr>
              <a:t>Input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Webcam captures video at 30-60 FPS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MediaPipe HandLandmarker extracts 21 3D landmarks per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Supports dual-hand tracking simultaneously</a:t>
            </a:r>
          </a:p>
        </p:txBody>
      </p:sp>
      <p:sp r:roundedCorner="5">
        <p:nvSpPr>
          <p:cNvPr id="12" name="Rounded Rectangle 11"/>
          <p:cNvSpPr/>
          <p:nvPr/>
        </p:nvSpPr>
        <p:spPr>
          <a:xfrm>
            <a:off x="429768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51560"/>
            <a:ext cx="3566160" cy="3657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7C00"/>
                </a:solidFill>
                <a:latin typeface="Calibri"/>
              </a:rPr>
              <a:t>Processing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GestureClassifier: MLP neural network (126 features, 4 classes)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Feature extraction: position (63) + velocity (63) relative to wrist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TrailRenderer: Fluorescent neon trail effects on 2D canvas</a:t>
            </a:r>
          </a:p>
        </p:txBody>
      </p:sp>
      <p:sp r:roundedCorner="5">
        <p:nvSpPr>
          <p:cNvPr id="18" name="Rounded Rectangle 17"/>
          <p:cNvSpPr/>
          <p:nvPr/>
        </p:nvSpPr>
        <p:spPr>
          <a:xfrm>
            <a:off x="804672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051560"/>
            <a:ext cx="35661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9688"/>
                </a:solidFill>
                <a:latin typeface="Calibri"/>
              </a:rPr>
              <a:t>Rendering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Three.js 3D scene with PerspectiveCamera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Fruit physics: parabolic trajectories with gravity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Particle explosion system for cutting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ScoreSystem: +10 per fruit, -20 per bomb, 60s timer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4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Hand Tracking - MediaPipe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6" name="Rounded Rectangle 5"/>
          <p:cNvSpPr/>
          <p:nvPr/>
        </p:nvSpPr>
        <p:spPr>
          <a:xfrm>
            <a:off x="54864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56616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DC6"/>
                </a:solidFill>
                <a:latin typeface="Calibri"/>
              </a:rPr>
              <a:t>MediaPipe Hand Landmarker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Google's state-of-the-art hand tracking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Detects 21 3D landmarks per hand in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Uses @mediapipe/tasks-vision v0.10.22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Runs entirely in the browser (no server needed for tracking)</a:t>
            </a:r>
          </a:p>
        </p:txBody>
      </p:sp>
      <p:sp r:roundedCorner="5">
        <p:nvSpPr>
          <p:cNvPr id="13" name="Rounded Rectangle 12"/>
          <p:cNvSpPr/>
          <p:nvPr/>
        </p:nvSpPr>
        <p:spPr>
          <a:xfrm>
            <a:off x="429768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3566160" cy="3657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7C00"/>
                </a:solidFill>
                <a:latin typeface="Calibri"/>
              </a:rPr>
              <a:t>Our Optimizations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Prediction-based hand smoothing (3-frame history buffer)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Trail retention: 150ms with 15-point maximum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Adaptive detection interval: 16ms (60fps) on high-end, 33ms (30fps) on low-end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Multiple CDN fallback sources for model loading reliability</a:t>
            </a:r>
          </a:p>
        </p:txBody>
      </p:sp>
      <p:sp r:roundedCorner="5">
        <p:nvSpPr>
          <p:cNvPr id="20" name="Rounded Rectangle 19"/>
          <p:cNvSpPr/>
          <p:nvPr/>
        </p:nvSpPr>
        <p:spPr>
          <a:xfrm>
            <a:off x="804672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051560"/>
            <a:ext cx="35661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9688"/>
                </a:solidFill>
                <a:latin typeface="Calibri"/>
              </a:rPr>
              <a:t>Performance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5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Gesture Classification - ML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6" name="Rounded Rectangle 5"/>
          <p:cNvSpPr/>
          <p:nvPr/>
        </p:nvSpPr>
        <p:spPr>
          <a:xfrm>
            <a:off x="54864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56616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DC6"/>
                </a:solidFill>
                <a:latin typeface="Calibri"/>
              </a:rP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Custom data collection script (collect_gesture_data.py)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Captures MediaPipe landmarks with labeled gestures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4 gesture classes: slash, idle, grab, open_palm</a:t>
            </a:r>
          </a:p>
        </p:txBody>
      </p:sp>
      <p:sp r:roundedCorner="5">
        <p:nvSpPr>
          <p:cNvPr id="12" name="Rounded Rectangle 11"/>
          <p:cNvSpPr/>
          <p:nvPr/>
        </p:nvSpPr>
        <p:spPr>
          <a:xfrm>
            <a:off x="429768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51560"/>
            <a:ext cx="3566160" cy="3657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7C00"/>
                </a:solidFill>
                <a:latin typeface="Calibri"/>
              </a:rPr>
              <a:t>Feature Engineering (126 dimensions)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63 position features: each landmark (x,y,z) relative to wrist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63 velocity features: frame-to-frame displacement / delta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StandardScaler normalization for consistent input ranges</a:t>
            </a:r>
          </a:p>
        </p:txBody>
      </p:sp>
      <p:sp r:roundedCorner="5">
        <p:nvSpPr>
          <p:cNvPr id="18" name="Rounded Rectangle 17"/>
          <p:cNvSpPr/>
          <p:nvPr/>
        </p:nvSpPr>
        <p:spPr>
          <a:xfrm>
            <a:off x="804672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051560"/>
            <a:ext cx="35661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9688"/>
                </a:solidFill>
                <a:latin typeface="Calibri"/>
              </a:rPr>
              <a:t>Model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Multi-Layer Perceptron (MLP) trained in PyTorch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Exported weights to JSON for browser-side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No Python server needed: pure JavaScript forward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Real-time classification with high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6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Visual Effects &amp; Game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6" name="Rounded Rectangle 5"/>
          <p:cNvSpPr/>
          <p:nvPr/>
        </p:nvSpPr>
        <p:spPr>
          <a:xfrm>
            <a:off x="54864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56616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DC6"/>
                </a:solidFill>
                <a:latin typeface="Calibri"/>
              </a:rPr>
              <a:t>Three.js 3D Rendering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Transparent WebGL canvas layered over live camera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5 fruit types: apple, watermelon, orange, banana, pineapple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Bomb objects with penalty scoring (-20 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Progressive difficulty: spawn rate increases over game time</a:t>
            </a:r>
          </a:p>
        </p:txBody>
      </p:sp>
      <p:sp r:roundedCorner="5">
        <p:nvSpPr>
          <p:cNvPr id="13" name="Rounded Rectangle 12"/>
          <p:cNvSpPr/>
          <p:nvPr/>
        </p:nvSpPr>
        <p:spPr>
          <a:xfrm>
            <a:off x="429768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3566160" cy="3657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7C00"/>
                </a:solidFill>
                <a:latin typeface="Calibri"/>
              </a:rPr>
              <a:t>Fluorescent Trail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Neon Blue (#00FFFF) for left hand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Neon Green (#00FF00) for right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Hot Pink (#FF1493) for mouse/touch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Canvas 2D rendering with glow and fade effects</a:t>
            </a:r>
          </a:p>
        </p:txBody>
      </p:sp>
      <p:sp r:roundedCorner="5">
        <p:nvSpPr>
          <p:cNvPr id="20" name="Rounded Rectangle 19"/>
          <p:cNvSpPr/>
          <p:nvPr/>
        </p:nvSpPr>
        <p:spPr>
          <a:xfrm>
            <a:off x="804672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051560"/>
            <a:ext cx="35661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9688"/>
                </a:solidFill>
                <a:latin typeface="Calibri"/>
              </a:rPr>
              <a:t>Collision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3D ray-based cutting path intersection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Hand trail points mapped from screen to 3D world 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Real-time particle explosion on successful cuts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7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6" name="Rounded Rectangle 5"/>
          <p:cNvSpPr/>
          <p:nvPr/>
        </p:nvSpPr>
        <p:spPr>
          <a:xfrm>
            <a:off x="548640" y="1051560"/>
            <a:ext cx="1106424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25296"/>
            <a:ext cx="54864" cy="54864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6128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44444"/>
                </a:solidFill>
                <a:latin typeface="Calibri"/>
              </a:rPr>
              <a:t>Live demonstration of the Fruit Ninja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27632"/>
            <a:ext cx="54864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6362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44444"/>
                </a:solidFill>
                <a:latin typeface="Calibri"/>
              </a:rPr>
              <a:t>Hand gesture controls with webcam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029968"/>
            <a:ext cx="54864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44444"/>
                </a:solidFill>
                <a:latin typeface="Calibri"/>
              </a:rPr>
              <a:t>Dual-hand tracking and fluorescent trail effects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32304"/>
            <a:ext cx="54864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68296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44444"/>
                </a:solidFill>
                <a:latin typeface="Calibri"/>
              </a:rPr>
              <a:t>Score tracking and difficulty progression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34640"/>
            <a:ext cx="54864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706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44444"/>
                </a:solidFill>
                <a:latin typeface="Calibri"/>
              </a:rPr>
              <a:t>Fallback to mouse control if camera unavailable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8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Team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73152" marR="73152" marT="36576" marB="36576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Responsibilities</a:t>
                      </a:r>
                    </a:p>
                  </a:txBody>
                  <a:tcPr marL="73152" marR="73152" marT="36576" marB="36576">
                    <a:solidFill>
                      <a:srgbClr val="1A3C6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4444"/>
                          </a:solidFill>
                          <a:latin typeface="Calibri"/>
                        </a:rPr>
                        <a:t>Niu, Jason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4444"/>
                          </a:solidFill>
                          <a:latin typeface="Calibri"/>
                        </a:rPr>
                        <a:t>Hand tracking integration (MediaPipe), gesture classifier ML pipeline, performan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4444"/>
                          </a:solidFill>
                          <a:latin typeface="Calibri"/>
                        </a:rPr>
                        <a:t>Si, Jack</a:t>
                      </a:r>
                    </a:p>
                  </a:txBody>
                  <a:tcPr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4444"/>
                          </a:solidFill>
                          <a:latin typeface="Calibri"/>
                        </a:rPr>
                        <a:t>Three.js game engine, fruit physics &amp; collision detection, visual effects (trail</a:t>
                      </a:r>
                    </a:p>
                  </a:txBody>
                  <a:tcPr marL="73152" marR="73152" marT="36576" marB="36576"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4444"/>
                          </a:solidFill>
                          <a:latin typeface="Calibri"/>
                        </a:rPr>
                        <a:t>Bustamante Perez, Angel Daniel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4444"/>
                          </a:solidFill>
                          <a:latin typeface="Calibri"/>
                        </a:rPr>
                        <a:t>Data collection for gesture training, testing &amp; QA across devices, documentation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4444"/>
                          </a:solidFill>
                          <a:latin typeface="Calibri"/>
                        </a:rPr>
                        <a:t>Lemes Cordeiro, Romilson</a:t>
                      </a:r>
                    </a:p>
                  </a:txBody>
                  <a:tcPr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4444"/>
                          </a:solidFill>
                          <a:latin typeface="Calibri"/>
                        </a:rPr>
                        <a:t>YOLO26 object detection integration, Python backend (FastAPI + WebSocket), bench</a:t>
                      </a:r>
                    </a:p>
                  </a:txBody>
                  <a:tcPr marL="73152" marR="73152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3C6E"/>
                </a:solidFill>
                <a:latin typeface="Calibri"/>
              </a:rPr>
              <a:t>Results &amp;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371600" cy="2743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:roundedCorner="5">
        <p:nvSpPr>
          <p:cNvPr id="6" name="Rounded Rectangle 5"/>
          <p:cNvSpPr/>
          <p:nvPr/>
        </p:nvSpPr>
        <p:spPr>
          <a:xfrm>
            <a:off x="54864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56616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DC6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60 FPS hand tracking on modern devices with &lt;16ms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Gesture classifier achieves high accuracy on 4 gesture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YOLO26 alternative: 134 FPS on M3 Pro (7.4ms per frame)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Successfully deployed on Aliyun ESA with global CDN access</a:t>
            </a:r>
          </a:p>
        </p:txBody>
      </p:sp>
      <p:sp r:roundedCorner="5">
        <p:nvSpPr>
          <p:cNvPr id="13" name="Rounded Rectangle 12"/>
          <p:cNvSpPr/>
          <p:nvPr/>
        </p:nvSpPr>
        <p:spPr>
          <a:xfrm>
            <a:off x="429768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3566160" cy="3657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7C00"/>
                </a:solidFill>
                <a:latin typeface="Calibri"/>
              </a:rPr>
              <a:t>Lessons Learned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MediaPipe runs entirely client-side, eliminating server round-trip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Hand smoothing (3-frame buffer) dramatically reduces false gesture 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Device-adaptive presets are essential for cross-device compatibility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HTTPS is mandatory for camera access in production environments</a:t>
            </a:r>
          </a:p>
        </p:txBody>
      </p:sp>
      <p:sp r:roundedCorner="5">
        <p:nvSpPr>
          <p:cNvPr id="20" name="Rounded Rectangle 19"/>
          <p:cNvSpPr/>
          <p:nvPr/>
        </p:nvSpPr>
        <p:spPr>
          <a:xfrm>
            <a:off x="8046720" y="1051560"/>
            <a:ext cx="3566160" cy="5120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051560"/>
            <a:ext cx="35661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9688"/>
                </a:solidFill>
                <a:latin typeface="Calibri"/>
              </a:rPr>
              <a:t>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Add more gesture types (pinch zoom, rotate)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019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Multiplayer mode with split-screen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249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444444"/>
                </a:solidFill>
                <a:latin typeface="Calibri"/>
              </a:rPr>
              <a:t>  Mobile-optimized version with touch gesture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  <a:latin typeface="Calibri"/>
              </a:rPr>
              <a:t>10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6C757D"/>
                </a:solidFill>
                <a:latin typeface="Calibri"/>
              </a:rPr>
              <a:t>Group 9 | Introduction to Computer Vision | SAIT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